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A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184648" y="1737360"/>
            <a:ext cx="1828800" cy="1828800"/>
          </a:xfrm>
          <a:prstGeom prst="roundRect">
            <a:avLst>
              <a:gd name="adj" fmla="val 42000"/>
            </a:avLst>
          </a:prstGeom>
          <a:noFill/>
          <a:ln w="38100">
            <a:solidFill>
              <a:srgbClr val="FF3E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724144" y="2606040"/>
            <a:ext cx="164592" cy="164592"/>
          </a:xfrm>
          <a:prstGeom prst="ellipse">
            <a:avLst/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309360" y="2606040"/>
            <a:ext cx="164592" cy="164592"/>
          </a:xfrm>
          <a:prstGeom prst="ellipse">
            <a:avLst/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 rot="10800000">
            <a:off x="5861304" y="2944368"/>
            <a:ext cx="475488" cy="182880"/>
          </a:xfrm>
          <a:prstGeom prst="roundRect">
            <a:avLst>
              <a:gd name="adj" fmla="val 100000"/>
            </a:avLst>
          </a:prstGeom>
          <a:noFill/>
          <a:ln w="31750">
            <a:solidFill>
              <a:srgbClr val="FF3E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 flipV="1">
            <a:off x="6318504" y="1481328"/>
            <a:ext cx="182880" cy="256032"/>
          </a:xfrm>
          <a:prstGeom prst="line">
            <a:avLst/>
          </a:prstGeom>
          <a:ln w="31750">
            <a:solidFill>
              <a:srgbClr val="FF3E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6437376" y="1417320"/>
            <a:ext cx="128016" cy="128016"/>
          </a:xfrm>
          <a:prstGeom prst="ellipse">
            <a:avLst/>
          </a:prstGeom>
          <a:solidFill>
            <a:srgbClr val="FF3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0" y="4206240"/>
            <a:ext cx="7589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400" b="1" i="0">
                <a:solidFill>
                  <a:srgbClr val="F4F2F7"/>
                </a:solidFill>
                <a:latin typeface="Georgia"/>
              </a:rPr>
              <a:t>Hi. I'm Vy.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4892040"/>
            <a:ext cx="8503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948FA0"/>
                </a:solidFill>
                <a:latin typeface="Calibri"/>
              </a:rPr>
              <a:t>I'm going to show you why VYBE Learn exists — and I promise it starts with a spreadsheet, not a syllabus.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585216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FF3EA5"/>
                </a:solidFill>
                <a:latin typeface="Consolas"/>
              </a:rPr>
              <a:t>VYBE LEARN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A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F3EA5"/>
                </a:solidFill>
                <a:latin typeface="Consolas"/>
              </a:rPr>
              <a:t>SCENE 1 — MEET RAJ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4F2F7"/>
                </a:solidFill>
                <a:latin typeface="Georgia"/>
              </a:rPr>
              <a:t>This is Raj. He runs a 12-person sales team.</a:t>
            </a:r>
          </a:p>
        </p:txBody>
      </p:sp>
      <p:sp>
        <p:nvSpPr>
          <p:cNvPr id="4" name="Oval 3"/>
          <p:cNvSpPr/>
          <p:nvPr/>
        </p:nvSpPr>
        <p:spPr>
          <a:xfrm>
            <a:off x="2231137" y="2103120"/>
            <a:ext cx="1024126" cy="1024126"/>
          </a:xfrm>
          <a:prstGeom prst="ellipse">
            <a:avLst/>
          </a:prstGeom>
          <a:solidFill>
            <a:srgbClr val="E0B0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901953" y="3039464"/>
            <a:ext cx="1682495" cy="1243584"/>
          </a:xfrm>
          <a:prstGeom prst="roundRect">
            <a:avLst>
              <a:gd name="adj" fmla="val 35000"/>
            </a:avLst>
          </a:prstGeom>
          <a:solidFill>
            <a:srgbClr val="5C6B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531060" y="2615183"/>
            <a:ext cx="102412" cy="102412"/>
          </a:xfrm>
          <a:prstGeom prst="ellipse">
            <a:avLst/>
          </a:prstGeom>
          <a:solidFill>
            <a:srgbClr val="2A2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852928" y="2615183"/>
            <a:ext cx="102412" cy="102412"/>
          </a:xfrm>
          <a:prstGeom prst="ellipse">
            <a:avLst/>
          </a:prstGeom>
          <a:solidFill>
            <a:srgbClr val="2A2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 rot="900000">
            <a:off x="2472539" y="2487167"/>
            <a:ext cx="131673" cy="18288"/>
          </a:xfrm>
          <a:prstGeom prst="roundRect">
            <a:avLst/>
          </a:prstGeom>
          <a:solidFill>
            <a:srgbClr val="2A2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 rot="20700000">
            <a:off x="2882189" y="2487167"/>
            <a:ext cx="131673" cy="18288"/>
          </a:xfrm>
          <a:prstGeom prst="roundRect">
            <a:avLst/>
          </a:prstGeom>
          <a:solidFill>
            <a:srgbClr val="2A2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931920" y="2103120"/>
            <a:ext cx="5943600" cy="1371600"/>
          </a:xfrm>
          <a:prstGeom prst="roundRect">
            <a:avLst>
              <a:gd name="adj" fmla="val 18000"/>
            </a:avLst>
          </a:prstGeom>
          <a:solidFill>
            <a:srgbClr val="1D1A25"/>
          </a:solidFill>
          <a:ln w="12700">
            <a:solidFill>
              <a:srgbClr val="2824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/>
          <a:lstStyle/>
          <a:p>
            <a:pPr algn="l">
              <a:spcAft>
                <a:spcPts val="0"/>
              </a:spcAft>
            </a:pPr>
            <a:r>
              <a:rPr sz="1500" b="0" i="1">
                <a:solidFill>
                  <a:srgbClr val="F4F2F7"/>
                </a:solidFill>
                <a:latin typeface="Calibri"/>
              </a:rPr>
              <a:t>“My sales spreadsheet has three date formats, half my city names are misspelled, and I don't even know where deal values go missing.”</a:t>
            </a:r>
          </a:p>
        </p:txBody>
      </p:sp>
      <p:sp>
        <p:nvSpPr>
          <p:cNvPr id="11" name="Isosceles Triangle 10"/>
          <p:cNvSpPr/>
          <p:nvPr/>
        </p:nvSpPr>
        <p:spPr>
          <a:xfrm rot="10800000">
            <a:off x="4251960" y="3456432"/>
            <a:ext cx="201168" cy="201168"/>
          </a:xfrm>
          <a:prstGeom prst="triangle">
            <a:avLst/>
          </a:prstGeom>
          <a:solidFill>
            <a:srgbClr val="1D1A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663440"/>
            <a:ext cx="10881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948FA0"/>
                </a:solidFill>
                <a:latin typeface="Calibri"/>
              </a:rPr>
              <a:t>Raj isn't a data scientist. He's never needed to be — until now. His business runs on this spreadsheet, and right now, he doesn't trust a single number in 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149840" y="5486400"/>
            <a:ext cx="731520" cy="731520"/>
          </a:xfrm>
          <a:prstGeom prst="roundRect">
            <a:avLst>
              <a:gd name="adj" fmla="val 42000"/>
            </a:avLst>
          </a:prstGeom>
          <a:noFill/>
          <a:ln w="38100">
            <a:solidFill>
              <a:srgbClr val="FF3E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365639" y="5833872"/>
            <a:ext cx="65836" cy="65836"/>
          </a:xfrm>
          <a:prstGeom prst="ellipse">
            <a:avLst/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599725" y="5833872"/>
            <a:ext cx="65836" cy="65836"/>
          </a:xfrm>
          <a:prstGeom prst="ellipse">
            <a:avLst/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 rot="10800000">
            <a:off x="10420503" y="5969203"/>
            <a:ext cx="190195" cy="73152"/>
          </a:xfrm>
          <a:prstGeom prst="roundRect">
            <a:avLst>
              <a:gd name="adj" fmla="val 100000"/>
            </a:avLst>
          </a:prstGeom>
          <a:noFill/>
          <a:ln w="31750">
            <a:solidFill>
              <a:srgbClr val="FF3E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 flipV="1">
            <a:off x="10603382" y="5383988"/>
            <a:ext cx="73152" cy="102412"/>
          </a:xfrm>
          <a:prstGeom prst="line">
            <a:avLst/>
          </a:prstGeom>
          <a:ln w="31750">
            <a:solidFill>
              <a:srgbClr val="FF3E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10650931" y="5358385"/>
            <a:ext cx="51206" cy="51206"/>
          </a:xfrm>
          <a:prstGeom prst="ellipse">
            <a:avLst/>
          </a:prstGeom>
          <a:solidFill>
            <a:srgbClr val="FF3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635D6E"/>
                </a:solidFill>
                <a:latin typeface="Consolas"/>
              </a:rPr>
              <a:t>VYBE Learn · built for people who have real work to do, not a semester to spend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A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F3EA5"/>
                </a:solidFill>
                <a:latin typeface="Consolas"/>
              </a:rPr>
              <a:t>SCENE 2 — THE DILEMMA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4F2F7"/>
                </a:solidFill>
                <a:latin typeface="Georgia"/>
              </a:rPr>
              <a:t>Raj has exactly two options. Both are bad.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37360"/>
            <a:ext cx="4937760" cy="3291840"/>
          </a:xfrm>
          <a:prstGeom prst="roundRect">
            <a:avLst>
              <a:gd name="adj" fmla="val 8000"/>
            </a:avLst>
          </a:prstGeom>
          <a:solidFill>
            <a:srgbClr val="16141C"/>
          </a:solidFill>
          <a:ln w="12700">
            <a:solidFill>
              <a:srgbClr val="2824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1560" y="1965960"/>
            <a:ext cx="457200" cy="457200"/>
          </a:xfrm>
          <a:prstGeom prst="ellipse">
            <a:avLst/>
          </a:prstGeom>
          <a:solidFill>
            <a:srgbClr val="16141C"/>
          </a:solidFill>
          <a:ln w="31750">
            <a:solidFill>
              <a:srgbClr val="FF6B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i="0">
                <a:solidFill>
                  <a:srgbClr val="FF6B7A"/>
                </a:solidFill>
                <a:latin typeface="Calibri"/>
              </a:rPr>
              <a:t>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920240"/>
            <a:ext cx="384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F4F2F7"/>
                </a:solidFill>
                <a:latin typeface="Georgia"/>
              </a:rPr>
              <a:t>Hire a data analyst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743200"/>
            <a:ext cx="43891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948FA0"/>
                </a:solidFill>
                <a:latin typeface="Calibri"/>
              </a:rPr>
              <a:t>• Real salary, every month, for one spreadsheet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948FA0"/>
                </a:solidFill>
                <a:latin typeface="Calibri"/>
              </a:rPr>
              <a:t>• Weeks of onboarding before they even touch his data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948FA0"/>
                </a:solidFill>
                <a:latin typeface="Calibri"/>
              </a:rPr>
              <a:t>• He still doesn't understand his own numbers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948FA0"/>
                </a:solidFill>
                <a:latin typeface="Calibri"/>
              </a:rPr>
              <a:t>• Doesn't scale — next messy file, same cost again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737360"/>
            <a:ext cx="4937760" cy="3291840"/>
          </a:xfrm>
          <a:prstGeom prst="roundRect">
            <a:avLst>
              <a:gd name="adj" fmla="val 8000"/>
            </a:avLst>
          </a:prstGeom>
          <a:solidFill>
            <a:srgbClr val="16141C"/>
          </a:solidFill>
          <a:ln w="12700">
            <a:solidFill>
              <a:srgbClr val="2824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629400" y="1965960"/>
            <a:ext cx="457200" cy="457200"/>
          </a:xfrm>
          <a:prstGeom prst="ellipse">
            <a:avLst/>
          </a:prstGeom>
          <a:solidFill>
            <a:srgbClr val="16141C"/>
          </a:solidFill>
          <a:ln w="31750">
            <a:solidFill>
              <a:srgbClr val="FF6B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i="0">
                <a:solidFill>
                  <a:srgbClr val="FF6B7A"/>
                </a:solidFill>
                <a:latin typeface="Calibri"/>
              </a:rPr>
              <a:t>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0" y="1920240"/>
            <a:ext cx="384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F4F2F7"/>
                </a:solidFill>
                <a:latin typeface="Georgia"/>
              </a:rPr>
              <a:t>Learn data science himself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743200"/>
            <a:ext cx="43891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948FA0"/>
                </a:solidFill>
                <a:latin typeface="Calibri"/>
              </a:rPr>
              <a:t>• A full course built for future data scientists, not a sales manager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948FA0"/>
                </a:solidFill>
                <a:latin typeface="Calibri"/>
              </a:rPr>
              <a:t>• 80% of it — theory, syntax, textbook datasets — he'll never use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948FA0"/>
                </a:solidFill>
                <a:latin typeface="Calibri"/>
              </a:rPr>
              <a:t>• Months before he can even open his own file with confidence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948FA0"/>
                </a:solidFill>
                <a:latin typeface="Calibri"/>
              </a:rPr>
              <a:t>• He has a business to run today, not a semester to spare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87568" y="5212080"/>
            <a:ext cx="822960" cy="822960"/>
          </a:xfrm>
          <a:prstGeom prst="roundRect">
            <a:avLst>
              <a:gd name="adj" fmla="val 42000"/>
            </a:avLst>
          </a:prstGeom>
          <a:noFill/>
          <a:ln w="38100">
            <a:solidFill>
              <a:srgbClr val="FF3E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930342" y="5602986"/>
            <a:ext cx="74066" cy="74066"/>
          </a:xfrm>
          <a:prstGeom prst="ellipse">
            <a:avLst/>
          </a:prstGeom>
          <a:solidFill>
            <a:srgbClr val="FFC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193688" y="5602986"/>
            <a:ext cx="74066" cy="74066"/>
          </a:xfrm>
          <a:prstGeom prst="ellipse">
            <a:avLst/>
          </a:prstGeom>
          <a:solidFill>
            <a:srgbClr val="FFC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992064" y="5672937"/>
            <a:ext cx="213969" cy="82296"/>
          </a:xfrm>
          <a:prstGeom prst="roundRect">
            <a:avLst>
              <a:gd name="adj" fmla="val 100000"/>
            </a:avLst>
          </a:prstGeom>
          <a:noFill/>
          <a:ln w="31750">
            <a:solidFill>
              <a:srgbClr val="FFC9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 flipV="1">
            <a:off x="6197803" y="5096866"/>
            <a:ext cx="82296" cy="115214"/>
          </a:xfrm>
          <a:prstGeom prst="line">
            <a:avLst/>
          </a:prstGeom>
          <a:ln w="31750">
            <a:solidFill>
              <a:srgbClr val="FF3E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6251296" y="5068063"/>
            <a:ext cx="57606" cy="57606"/>
          </a:xfrm>
          <a:prstGeom prst="ellipse">
            <a:avLst/>
          </a:prstGeom>
          <a:solidFill>
            <a:srgbClr val="FF3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0" y="608076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1">
                <a:solidFill>
                  <a:srgbClr val="635D6E"/>
                </a:solidFill>
                <a:latin typeface="Calibri"/>
              </a:rPr>
              <a:t>“There has to be a third way…”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A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554480" y="1554480"/>
            <a:ext cx="1645920" cy="1645920"/>
          </a:xfrm>
          <a:prstGeom prst="roundRect">
            <a:avLst>
              <a:gd name="adj" fmla="val 42000"/>
            </a:avLst>
          </a:prstGeom>
          <a:noFill/>
          <a:ln w="38100">
            <a:solidFill>
              <a:srgbClr val="FF3E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040027" y="2336292"/>
            <a:ext cx="148132" cy="148132"/>
          </a:xfrm>
          <a:prstGeom prst="ellipse">
            <a:avLst/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566721" y="2336292"/>
            <a:ext cx="148132" cy="148132"/>
          </a:xfrm>
          <a:prstGeom prst="ellipse">
            <a:avLst/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 rot="10800000">
            <a:off x="2163471" y="2640787"/>
            <a:ext cx="427939" cy="164592"/>
          </a:xfrm>
          <a:prstGeom prst="roundRect">
            <a:avLst>
              <a:gd name="adj" fmla="val 100000"/>
            </a:avLst>
          </a:prstGeom>
          <a:noFill/>
          <a:ln w="31750">
            <a:solidFill>
              <a:srgbClr val="FF3E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 flipV="1">
            <a:off x="2574950" y="1324052"/>
            <a:ext cx="164592" cy="230428"/>
          </a:xfrm>
          <a:prstGeom prst="line">
            <a:avLst/>
          </a:prstGeom>
          <a:ln w="31750">
            <a:solidFill>
              <a:srgbClr val="FF3E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2681935" y="1266445"/>
            <a:ext cx="115214" cy="115214"/>
          </a:xfrm>
          <a:prstGeom prst="ellipse">
            <a:avLst/>
          </a:prstGeom>
          <a:solidFill>
            <a:srgbClr val="FF3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57600" y="1371600"/>
            <a:ext cx="7680960" cy="1920240"/>
          </a:xfrm>
          <a:prstGeom prst="roundRect">
            <a:avLst>
              <a:gd name="adj" fmla="val 18000"/>
            </a:avLst>
          </a:prstGeom>
          <a:solidFill>
            <a:srgbClr val="1D1A25"/>
          </a:solidFill>
          <a:ln w="12700">
            <a:solidFill>
              <a:srgbClr val="2824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/>
          <a:lstStyle/>
          <a:p>
            <a:pPr algn="l">
              <a:spcAft>
                <a:spcPts val="0"/>
              </a:spcAft>
            </a:pPr>
            <a:r>
              <a:rPr sz="1800" b="0" i="1">
                <a:solidFill>
                  <a:srgbClr val="F4F2F7"/>
                </a:solidFill>
                <a:latin typeface="Calibri"/>
              </a:rPr>
              <a:t>“Raj doesn't need to learn everything. He needs an agent that already knows how — and shows him only the part that matters, on his own data.”</a:t>
            </a:r>
          </a:p>
        </p:txBody>
      </p:sp>
      <p:sp>
        <p:nvSpPr>
          <p:cNvPr id="9" name="Isosceles Triangle 8"/>
          <p:cNvSpPr/>
          <p:nvPr/>
        </p:nvSpPr>
        <p:spPr>
          <a:xfrm rot="10800000">
            <a:off x="3977640" y="3273552"/>
            <a:ext cx="201168" cy="201168"/>
          </a:xfrm>
          <a:prstGeom prst="triangle">
            <a:avLst/>
          </a:prstGeom>
          <a:solidFill>
            <a:srgbClr val="1D1A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749039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F4F2F7"/>
                </a:solidFill>
                <a:latin typeface="Georgia"/>
              </a:rPr>
              <a:t>That's the whole idea behind VYBE Learn.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572000"/>
            <a:ext cx="3502152" cy="1554480"/>
          </a:xfrm>
          <a:prstGeom prst="roundRect">
            <a:avLst>
              <a:gd name="adj" fmla="val 8000"/>
            </a:avLst>
          </a:prstGeom>
          <a:solidFill>
            <a:srgbClr val="16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37160"/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F4F2F7"/>
                </a:solidFill>
                <a:latin typeface="Georgia"/>
              </a:rPr>
              <a:t>The agent does the real work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948FA0"/>
                </a:solidFill>
                <a:latin typeface="Calibri"/>
              </a:rPr>
              <a:t>Cleans, verifies, and models Raj's actual spreadsheet — for real, not a demo.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6552" y="4572000"/>
            <a:ext cx="3502152" cy="1554480"/>
          </a:xfrm>
          <a:prstGeom prst="roundRect">
            <a:avLst>
              <a:gd name="adj" fmla="val 8000"/>
            </a:avLst>
          </a:prstGeom>
          <a:solidFill>
            <a:srgbClr val="16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37160"/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F4F2F7"/>
                </a:solidFill>
                <a:latin typeface="Georgia"/>
              </a:rPr>
              <a:t>Raj learns just enough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948FA0"/>
                </a:solidFill>
                <a:latin typeface="Calibri"/>
              </a:rPr>
              <a:t>Bite-sized, grounded in his own numbers — not a generic 40-hour syllabus.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10144" y="4572000"/>
            <a:ext cx="3502152" cy="1554480"/>
          </a:xfrm>
          <a:prstGeom prst="roundRect">
            <a:avLst>
              <a:gd name="adj" fmla="val 8000"/>
            </a:avLst>
          </a:prstGeom>
          <a:solidFill>
            <a:srgbClr val="16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37160"/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F4F2F7"/>
                </a:solidFill>
                <a:latin typeface="Georgia"/>
              </a:rPr>
              <a:t>He keeps his job, not switches careers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948FA0"/>
                </a:solidFill>
                <a:latin typeface="Calibri"/>
              </a:rPr>
              <a:t>20 minutes with his own data beats 6 months of a course he'll abandon.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A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F3EA5"/>
                </a:solidFill>
                <a:latin typeface="Consolas"/>
              </a:rPr>
              <a:t>SCENE 3 — WATCH IT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4F2F7"/>
                </a:solidFill>
                <a:latin typeface="Georgia"/>
              </a:rPr>
              <a:t>Raj uploads his spreadsheet. Here's what happens.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15544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FF3EA5"/>
                </a:solidFill>
                <a:latin typeface="Consolas"/>
              </a:rPr>
              <a:t>GOAL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1600200"/>
            <a:ext cx="9144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F4F2F7"/>
                </a:solidFill>
                <a:latin typeface="Calibri"/>
              </a:rPr>
              <a:t>Fix the missing deal values without quietly distorting the sales numbers.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68680" y="2286000"/>
            <a:ext cx="0" cy="82296"/>
          </a:xfrm>
          <a:prstGeom prst="line">
            <a:avLst/>
          </a:prstGeom>
          <a:ln w="19050">
            <a:solidFill>
              <a:srgbClr val="28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40080" y="2313432"/>
            <a:ext cx="15544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948FA0"/>
                </a:solidFill>
                <a:latin typeface="Consolas"/>
              </a:rPr>
              <a:t>DECISION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2313432"/>
            <a:ext cx="9144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F4F2F7"/>
                </a:solidFill>
                <a:latin typeface="Calibri"/>
              </a:rPr>
              <a:t>Try the obvious fix first — fill blanks with the average.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68680" y="2999232"/>
            <a:ext cx="0" cy="82296"/>
          </a:xfrm>
          <a:prstGeom prst="line">
            <a:avLst/>
          </a:prstGeom>
          <a:ln w="19050">
            <a:solidFill>
              <a:srgbClr val="28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3026664"/>
            <a:ext cx="15544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948FA0"/>
                </a:solidFill>
                <a:latin typeface="Consolas"/>
              </a:rPr>
              <a:t>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3026664"/>
            <a:ext cx="9144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F4F2F7"/>
                </a:solidFill>
                <a:latin typeface="Calibri"/>
              </a:rPr>
              <a:t>impute_median runs on deal_value.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68680" y="3712464"/>
            <a:ext cx="0" cy="82296"/>
          </a:xfrm>
          <a:prstGeom prst="line">
            <a:avLst/>
          </a:prstGeom>
          <a:ln w="19050">
            <a:solidFill>
              <a:srgbClr val="28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40080" y="3739896"/>
            <a:ext cx="15544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FF6B7A"/>
                </a:solidFill>
                <a:latin typeface="Consolas"/>
              </a:rPr>
              <a:t>RESULT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3739896"/>
            <a:ext cx="9144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F4F2F7"/>
                </a:solidFill>
                <a:latin typeface="Calibri"/>
              </a:rPr>
              <a:t>Distorts the shape of the data by 21.3% — fails the agent's own check.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68680" y="4425696"/>
            <a:ext cx="0" cy="82296"/>
          </a:xfrm>
          <a:prstGeom prst="line">
            <a:avLst/>
          </a:prstGeom>
          <a:ln w="19050">
            <a:solidFill>
              <a:srgbClr val="28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40080" y="4453128"/>
            <a:ext cx="15544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FFC93C"/>
                </a:solidFill>
                <a:latin typeface="Consolas"/>
              </a:rPr>
              <a:t>ADAPTATION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4453128"/>
            <a:ext cx="9144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F4F2F7"/>
                </a:solidFill>
                <a:latin typeface="Calibri"/>
              </a:rPr>
              <a:t>Escalates to a smarter fix: impute_knn, which looks at similar rows instead of one flat number.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68680" y="5138928"/>
            <a:ext cx="0" cy="82296"/>
          </a:xfrm>
          <a:prstGeom prst="line">
            <a:avLst/>
          </a:prstGeom>
          <a:ln w="19050">
            <a:solidFill>
              <a:srgbClr val="28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40080" y="5166360"/>
            <a:ext cx="15544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3DDC8A"/>
                </a:solidFill>
                <a:latin typeface="Consolas"/>
              </a:rPr>
              <a:t>OUTCOME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5166360"/>
            <a:ext cx="9144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F4F2F7"/>
                </a:solidFill>
                <a:latin typeface="Calibri"/>
              </a:rPr>
              <a:t>Shape distorted by only 7.6% — kept. Raj sees exactly why, in one plain sentence.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635D6E"/>
                </a:solidFill>
                <a:latin typeface="Consolas"/>
              </a:rPr>
              <a:t>This exact sequence is a live run on the sample dataset, not a scripted screen — it re-runs on any file Raj uploads.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A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417320" y="1325880"/>
            <a:ext cx="1188720" cy="1188720"/>
          </a:xfrm>
          <a:prstGeom prst="roundRect">
            <a:avLst>
              <a:gd name="adj" fmla="val 42000"/>
            </a:avLst>
          </a:prstGeom>
          <a:noFill/>
          <a:ln w="38100">
            <a:solidFill>
              <a:srgbClr val="FF3E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767993" y="1890522"/>
            <a:ext cx="106984" cy="106984"/>
          </a:xfrm>
          <a:prstGeom prst="ellipse">
            <a:avLst/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148383" y="1890522"/>
            <a:ext cx="106984" cy="106984"/>
          </a:xfrm>
          <a:prstGeom prst="ellipse">
            <a:avLst/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 rot="10800000">
            <a:off x="1857147" y="2110435"/>
            <a:ext cx="309067" cy="118872"/>
          </a:xfrm>
          <a:prstGeom prst="roundRect">
            <a:avLst>
              <a:gd name="adj" fmla="val 100000"/>
            </a:avLst>
          </a:prstGeom>
          <a:noFill/>
          <a:ln w="31750">
            <a:solidFill>
              <a:srgbClr val="FF3E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 flipV="1">
            <a:off x="2154326" y="1159460"/>
            <a:ext cx="118872" cy="166420"/>
          </a:xfrm>
          <a:prstGeom prst="line">
            <a:avLst/>
          </a:prstGeom>
          <a:ln w="31750">
            <a:solidFill>
              <a:srgbClr val="FF3E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2231593" y="1117855"/>
            <a:ext cx="83210" cy="83210"/>
          </a:xfrm>
          <a:prstGeom prst="ellipse">
            <a:avLst/>
          </a:prstGeom>
          <a:solidFill>
            <a:srgbClr val="FF3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758185" y="1554480"/>
            <a:ext cx="896110" cy="896110"/>
          </a:xfrm>
          <a:prstGeom prst="ellipse">
            <a:avLst/>
          </a:prstGeom>
          <a:solidFill>
            <a:srgbClr val="E0B0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70148" y="2373781"/>
            <a:ext cx="1472184" cy="1088136"/>
          </a:xfrm>
          <a:prstGeom prst="roundRect">
            <a:avLst>
              <a:gd name="adj" fmla="val 35000"/>
            </a:avLst>
          </a:prstGeom>
          <a:solidFill>
            <a:srgbClr val="5C6B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020618" y="2002535"/>
            <a:ext cx="89610" cy="89610"/>
          </a:xfrm>
          <a:prstGeom prst="ellipse">
            <a:avLst/>
          </a:prstGeom>
          <a:solidFill>
            <a:srgbClr val="2A2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302252" y="2002535"/>
            <a:ext cx="89610" cy="89610"/>
          </a:xfrm>
          <a:prstGeom prst="ellipse">
            <a:avLst/>
          </a:prstGeom>
          <a:solidFill>
            <a:srgbClr val="2A2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 rot="21000000">
            <a:off x="3969411" y="1890521"/>
            <a:ext cx="115214" cy="18288"/>
          </a:xfrm>
          <a:prstGeom prst="roundRect">
            <a:avLst/>
          </a:prstGeom>
          <a:solidFill>
            <a:srgbClr val="2A2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 rot="600000">
            <a:off x="4327855" y="1890521"/>
            <a:ext cx="115214" cy="18288"/>
          </a:xfrm>
          <a:prstGeom prst="roundRect">
            <a:avLst/>
          </a:prstGeom>
          <a:solidFill>
            <a:srgbClr val="2A2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577840" y="1554480"/>
            <a:ext cx="5577840" cy="1554480"/>
          </a:xfrm>
          <a:prstGeom prst="roundRect">
            <a:avLst>
              <a:gd name="adj" fmla="val 18000"/>
            </a:avLst>
          </a:prstGeom>
          <a:solidFill>
            <a:srgbClr val="1D1A25"/>
          </a:solidFill>
          <a:ln w="12700">
            <a:solidFill>
              <a:srgbClr val="2824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/>
          <a:lstStyle/>
          <a:p>
            <a:pPr algn="l">
              <a:spcAft>
                <a:spcPts val="0"/>
              </a:spcAft>
            </a:pPr>
            <a:r>
              <a:rPr sz="1400" b="0" i="1">
                <a:solidFill>
                  <a:srgbClr val="F4F2F7"/>
                </a:solidFill>
                <a:latin typeface="Calibri"/>
              </a:rPr>
              <a:t>“I didn't just get a clean file. I understand why every fix was made — and I could explain it to my own team.” — Raj, 20 minutes later</a:t>
            </a:r>
          </a:p>
        </p:txBody>
      </p:sp>
      <p:sp>
        <p:nvSpPr>
          <p:cNvPr id="15" name="Isosceles Triangle 14"/>
          <p:cNvSpPr/>
          <p:nvPr/>
        </p:nvSpPr>
        <p:spPr>
          <a:xfrm rot="10800000">
            <a:off x="5897880" y="3090672"/>
            <a:ext cx="201168" cy="201168"/>
          </a:xfrm>
          <a:prstGeom prst="triangle">
            <a:avLst/>
          </a:prstGeom>
          <a:solidFill>
            <a:srgbClr val="1D1A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3832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F4F2F7"/>
                </a:solidFill>
                <a:latin typeface="Georgia"/>
              </a:rPr>
              <a:t>In one sitting, Raj walks away with: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023360"/>
            <a:ext cx="10058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3DDC8A"/>
                </a:solidFill>
                <a:latin typeface="Calibri"/>
              </a:rPr>
              <a:t>✓  A clean dataset, with every decision explained in plain language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948FA0"/>
                </a:solidFill>
                <a:latin typeface="Calibri"/>
              </a:rPr>
              <a:t>✓  A trained model for his own sales data, not a textbook example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948FA0"/>
                </a:solidFill>
                <a:latin typeface="Calibri"/>
              </a:rPr>
              <a:t>✓  Real, working knowledge of the 4 issues his own data actually had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948FA0"/>
                </a:solidFill>
                <a:latin typeface="Calibri"/>
              </a:rPr>
              <a:t>✓  A portfolio-ready analysis he can hand to his team — today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635D6E"/>
                </a:solidFill>
                <a:latin typeface="Consolas"/>
              </a:rPr>
              <a:t>VYBE Learn · built for people who have real work to do, not a semester to spend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A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F3EA5"/>
                </a:solidFill>
                <a:latin typeface="Consolas"/>
              </a:rPr>
              <a:t>PROBLEM &amp; SOLUTION BRIEF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4F2F7"/>
                </a:solidFill>
                <a:latin typeface="Georgia"/>
              </a:rPr>
              <a:t>The same story, in submission language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08760"/>
            <a:ext cx="228600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F3EA5"/>
                </a:solidFill>
                <a:latin typeface="Georgia"/>
              </a:rP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1508760"/>
            <a:ext cx="850392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948FA0"/>
                </a:solidFill>
                <a:latin typeface="Calibri"/>
              </a:rPr>
              <a:t>Non-technical professionals have real data they need to understand, but only two extremes exist: hire it out, or take a generic course built for future data scientists.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441448"/>
            <a:ext cx="228600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F3EA5"/>
                </a:solidFill>
                <a:latin typeface="Georgia"/>
              </a:rPr>
              <a:t>Target users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2441448"/>
            <a:ext cx="850392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948FA0"/>
                </a:solidFill>
                <a:latin typeface="Calibri"/>
              </a:rPr>
              <a:t>Small-business owners, sales/ops/HR managers, students — anyone with their own messy spreadsheet and zero interest in becoming a full-time data scientist.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74136"/>
            <a:ext cx="228600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F3EA5"/>
                </a:solidFill>
                <a:latin typeface="Georgia"/>
              </a:rPr>
              <a:t>Why this needs to be agentic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3374136"/>
            <a:ext cx="850392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948FA0"/>
                </a:solidFill>
                <a:latin typeface="Calibri"/>
              </a:rPr>
              <a:t>A fixed script applies one rule and hopes. A chatbot can describe a fix but can't check if it worked. This system observes → decides → acts → evaluates → adapts, on real measured thresholds — the same loop for cleaning and for model selection.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306824"/>
            <a:ext cx="228600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F3EA5"/>
                </a:solidFill>
                <a:latin typeface="Georgia"/>
              </a:rPr>
              <a:t>Proposed 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4306824"/>
            <a:ext cx="850392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948FA0"/>
                </a:solidFill>
                <a:latin typeface="Calibri"/>
              </a:rPr>
              <a:t>VYBE Learn: a deterministic agent that cleans, verifies, and models the learner's own dataset, narrated by an AI tutor — gamified so understanding is earned a step at a time, never dumped as a wall of theory.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239512"/>
            <a:ext cx="228600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F3EA5"/>
                </a:solidFill>
                <a:latin typeface="Georgia"/>
              </a:rPr>
              <a:t>Expected impact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5239512"/>
            <a:ext cx="850392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948FA0"/>
                </a:solidFill>
                <a:latin typeface="Calibri"/>
              </a:rPr>
              <a:t>Turns “I have to hire this out or give up” into “I understood my own data in one sitting” — for the huge population of people data science was never built for.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018520" y="365760"/>
            <a:ext cx="640080" cy="640080"/>
          </a:xfrm>
          <a:prstGeom prst="roundRect">
            <a:avLst>
              <a:gd name="adj" fmla="val 42000"/>
            </a:avLst>
          </a:prstGeom>
          <a:noFill/>
          <a:ln w="38100">
            <a:solidFill>
              <a:srgbClr val="FF3E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7345" y="669798"/>
            <a:ext cx="57606" cy="57606"/>
          </a:xfrm>
          <a:prstGeom prst="ellipse">
            <a:avLst/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412169" y="669798"/>
            <a:ext cx="57606" cy="57606"/>
          </a:xfrm>
          <a:prstGeom prst="ellipse">
            <a:avLst/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 rot="10800000">
            <a:off x="11255350" y="788212"/>
            <a:ext cx="166420" cy="64008"/>
          </a:xfrm>
          <a:prstGeom prst="roundRect">
            <a:avLst>
              <a:gd name="adj" fmla="val 100000"/>
            </a:avLst>
          </a:prstGeom>
          <a:noFill/>
          <a:ln w="31750">
            <a:solidFill>
              <a:srgbClr val="FF3E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 flipV="1">
            <a:off x="11415369" y="276149"/>
            <a:ext cx="64008" cy="89611"/>
          </a:xfrm>
          <a:prstGeom prst="line">
            <a:avLst/>
          </a:prstGeom>
          <a:ln w="31750">
            <a:solidFill>
              <a:srgbClr val="FF3E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11456975" y="253747"/>
            <a:ext cx="44804" cy="44804"/>
          </a:xfrm>
          <a:prstGeom prst="ellipse">
            <a:avLst/>
          </a:prstGeom>
          <a:solidFill>
            <a:srgbClr val="FF3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A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F3EA5"/>
                </a:solidFill>
                <a:latin typeface="Consolas"/>
              </a:rP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4F2F7"/>
                </a:solidFill>
                <a:latin typeface="Georgia"/>
              </a:rPr>
              <a:t>Nine components, mapped honestly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08760"/>
            <a:ext cx="24688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FF3EA5"/>
                </a:solidFill>
                <a:latin typeface="Consolas"/>
              </a:rPr>
              <a:t>Agent / controller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1508760"/>
            <a:ext cx="83210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948FA0"/>
                </a:solidFill>
                <a:latin typeface="Calibri"/>
              </a:rPr>
              <a:t>loop.py's decision loop (cleaning) + model_selector.py's loop (modeling) + web/chat.py's tutor-tier orchestration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20824"/>
            <a:ext cx="24688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FF3EA5"/>
                </a:solidFill>
                <a:latin typeface="Consolas"/>
              </a:rPr>
              <a:t>Tools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2020824"/>
            <a:ext cx="83210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948FA0"/>
                </a:solidFill>
                <a:latin typeface="Calibri"/>
              </a:rPr>
              <a:t>actions.py transforms (impute_median, impute_knn, normalize_categories…) — the agent's real callable actions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32888"/>
            <a:ext cx="24688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FF3EA5"/>
                </a:solidFill>
                <a:latin typeface="Consolas"/>
              </a:rPr>
              <a:t>External systems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2532888"/>
            <a:ext cx="83210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948FA0"/>
                </a:solidFill>
                <a:latin typeface="Calibri"/>
              </a:rPr>
              <a:t>Google Gemini API (direct + via ADK), GitHub, Render + Vercel hosting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044952"/>
            <a:ext cx="24688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FF3EA5"/>
                </a:solidFill>
                <a:latin typeface="Consolas"/>
              </a:rPr>
              <a:t>Memory / state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3044952"/>
            <a:ext cx="83210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948FA0"/>
                </a:solidFill>
                <a:latin typeface="Calibri"/>
              </a:rPr>
              <a:t>In-memory Session (per learner) — dataset, guesses, points; ADK's own profile/XP store; localStorage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557016"/>
            <a:ext cx="24688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FF3EA5"/>
                </a:solidFill>
                <a:latin typeface="Consolas"/>
              </a:rPr>
              <a:t>Retrieval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557016"/>
            <a:ext cx="83210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948FA0"/>
                </a:solidFill>
                <a:latin typeface="Calibri"/>
              </a:rPr>
              <a:t>Lightweight only — keyword-matched FAQ fallback, no vector DB. Grounding comes from real dataset stats, not documents.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069080"/>
            <a:ext cx="24688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FF3EA5"/>
                </a:solidFill>
                <a:latin typeface="Consolas"/>
              </a:rPr>
              <a:t>Planning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4069080"/>
            <a:ext cx="83210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948FA0"/>
                </a:solidFill>
                <a:latin typeface="Calibri"/>
              </a:rPr>
              <a:t>The candidate ladder per issue type — simplest strategy first, escalate only on a measured failure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581144"/>
            <a:ext cx="24688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FF3EA5"/>
                </a:solidFill>
                <a:latin typeface="Consolas"/>
              </a:rPr>
              <a:t>Evaluation / verification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4581144"/>
            <a:ext cx="83210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948FA0"/>
                </a:solidFill>
                <a:latin typeface="Calibri"/>
              </a:rPr>
              <a:t>stats.py + downstream.py — skew-shift thresholds, cross-val R², residual-pattern checks, real downstream tasks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093208"/>
            <a:ext cx="24688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FF3EA5"/>
                </a:solidFill>
                <a:latin typeface="Consolas"/>
              </a:rPr>
              <a:t>Human interaction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5093208"/>
            <a:ext cx="83210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948FA0"/>
                </a:solidFill>
                <a:latin typeface="Calibri"/>
              </a:rPr>
              <a:t>Learner predicts the agent's fix before seeing it, takes quizzes, chats with the AI Mentor, can Skip any stage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605272"/>
            <a:ext cx="24688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FF3EA5"/>
                </a:solidFill>
                <a:latin typeface="Consolas"/>
              </a:rPr>
              <a:t>Failure handling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5605272"/>
            <a:ext cx="83210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948FA0"/>
                </a:solidFill>
                <a:latin typeface="Calibri"/>
              </a:rPr>
              <a:t>Honest-failure path (flagged for a human when every strategy fails) + 3-tier tutor fallback that never hard-errors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635D6E"/>
                </a:solidFill>
                <a:latin typeface="Consolas"/>
              </a:rPr>
              <a:t>Full diagram (layered system map + agentic loop) in the pitch_deck_reference artifact / VYBE_Learn_Pitch_Deck.pptx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A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F3EA5"/>
                </a:solidFill>
                <a:latin typeface="Consolas"/>
              </a:rPr>
              <a:t>SOURCE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4F2F7"/>
                </a:solidFill>
                <a:latin typeface="Georgia"/>
              </a:rPr>
              <a:t>Two public repos, both live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45920"/>
            <a:ext cx="10881360" cy="1828800"/>
          </a:xfrm>
          <a:prstGeom prst="roundRect">
            <a:avLst>
              <a:gd name="adj" fmla="val 8000"/>
            </a:avLst>
          </a:prstGeom>
          <a:solidFill>
            <a:srgbClr val="16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4F2F7"/>
                </a:solidFill>
                <a:latin typeface="Georgia"/>
              </a:rPr>
              <a:t>Main app — frontend + backend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FF3EA5"/>
                </a:solidFill>
                <a:latin typeface="Consolas"/>
              </a:rPr>
              <a:t>github.com/kanishkaanand0911-dotcom/personalized-data-science-tutor</a:t>
            </a:r>
          </a:p>
          <a:p>
            <a:pPr algn="l">
              <a:spcAft>
                <a:spcPts val="800"/>
              </a:spcAft>
            </a:pPr>
            <a:r>
              <a:rPr sz="1050" b="0" i="0">
                <a:solidFill>
                  <a:srgbClr val="635D6E"/>
                </a:solidFill>
                <a:latin typeface="Consolas"/>
              </a:rPr>
              <a:t>branch: vybe-learn-frontend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948FA0"/>
                </a:solidFill>
                <a:latin typeface="Calibri"/>
              </a:rPr>
              <a:t>React 19 + Vite frontend, FastAPI backend, the deterministic agent core, README with setup + architecture notes.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657600"/>
            <a:ext cx="10881360" cy="1828800"/>
          </a:xfrm>
          <a:prstGeom prst="roundRect">
            <a:avLst>
              <a:gd name="adj" fmla="val 8000"/>
            </a:avLst>
          </a:prstGeom>
          <a:solidFill>
            <a:srgbClr val="16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4F2F7"/>
                </a:solidFill>
                <a:latin typeface="Georgia"/>
              </a:rPr>
              <a:t>ADK tutor companion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FF3EA5"/>
                </a:solidFill>
                <a:latin typeface="Consolas"/>
              </a:rPr>
              <a:t>github.com/Bhoomimehta14/vybe-learn-adk-tutor</a:t>
            </a:r>
          </a:p>
          <a:p>
            <a:pPr algn="l">
              <a:spcAft>
                <a:spcPts val="800"/>
              </a:spcAft>
            </a:pPr>
            <a:r>
              <a:rPr sz="1050" b="0" i="0">
                <a:solidFill>
                  <a:srgbClr val="635D6E"/>
                </a:solidFill>
                <a:latin typeface="Consolas"/>
              </a:rPr>
              <a:t>branch: main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948FA0"/>
                </a:solidFill>
                <a:latin typeface="Calibri"/>
              </a:rPr>
              <a:t>Google ADK-hosted multi-agent tutor (profiler + gamification), README with its own setup instructions.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76072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1">
                <a:solidFill>
                  <a:srgbClr val="635D6E"/>
                </a:solidFill>
                <a:latin typeface="Calibri"/>
              </a:rPr>
              <a:t>Each repo's README covers: dependencies, environment variables (.env.example provided), and run commands.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A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FC93C"/>
                </a:solidFill>
                <a:latin typeface="Consolas"/>
              </a:rPr>
              <a:t>DEMO VIDEO — TO RECORD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4F2F7"/>
                </a:solidFill>
                <a:latin typeface="Georgia"/>
              </a:rPr>
              <a:t>3–5 min screen capture — not yet recorded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948FA0"/>
                </a:solidFill>
                <a:latin typeface="Calibri"/>
              </a:rPr>
              <a:t>Everything below already happened live in this session — this slide is the shot list, using Scene 3 (slide 5) as the script.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249424"/>
            <a:ext cx="256032" cy="256032"/>
          </a:xfrm>
          <a:prstGeom prst="roundRect">
            <a:avLst>
              <a:gd name="adj" fmla="val 30000"/>
            </a:avLst>
          </a:prstGeom>
          <a:noFill/>
          <a:ln w="25400">
            <a:solidFill>
              <a:srgbClr val="FFC9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194560"/>
            <a:ext cx="2103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FFC93C"/>
                </a:solidFill>
                <a:latin typeface="Calibri"/>
              </a:rPr>
              <a:t>Goal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2194560"/>
            <a:ext cx="83210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948FA0"/>
                </a:solidFill>
                <a:latin typeface="Calibri"/>
              </a:rPr>
              <a:t>Show Raj's messy sample dataset loading — missing values, mixed date formats, inconsistent labels.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816352"/>
            <a:ext cx="256032" cy="256032"/>
          </a:xfrm>
          <a:prstGeom prst="roundRect">
            <a:avLst>
              <a:gd name="adj" fmla="val 30000"/>
            </a:avLst>
          </a:prstGeom>
          <a:noFill/>
          <a:ln w="25400">
            <a:solidFill>
              <a:srgbClr val="FFC9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761488"/>
            <a:ext cx="2103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FFC93C"/>
                </a:solidFill>
                <a:latin typeface="Calibri"/>
              </a:rPr>
              <a:t>Decision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761488"/>
            <a:ext cx="83210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948FA0"/>
                </a:solidFill>
                <a:latin typeface="Calibri"/>
              </a:rPr>
              <a:t>Guess a cleaning strategy before revealing the agent's choice (the app's own predict-first flow).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383280"/>
            <a:ext cx="256032" cy="256032"/>
          </a:xfrm>
          <a:prstGeom prst="roundRect">
            <a:avLst>
              <a:gd name="adj" fmla="val 30000"/>
            </a:avLst>
          </a:prstGeom>
          <a:noFill/>
          <a:ln w="25400">
            <a:solidFill>
              <a:srgbClr val="FFC9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3328416"/>
            <a:ext cx="2103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FFC93C"/>
                </a:solidFill>
                <a:latin typeface="Calibri"/>
              </a:rPr>
              <a:t>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328416"/>
            <a:ext cx="83210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948FA0"/>
                </a:solidFill>
                <a:latin typeface="Calibri"/>
              </a:rPr>
              <a:t>Reveal the agent's real fix — the median-imputation attempt.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950208"/>
            <a:ext cx="256032" cy="256032"/>
          </a:xfrm>
          <a:prstGeom prst="roundRect">
            <a:avLst>
              <a:gd name="adj" fmla="val 30000"/>
            </a:avLst>
          </a:prstGeom>
          <a:noFill/>
          <a:ln w="25400">
            <a:solidFill>
              <a:srgbClr val="FFC9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3895344"/>
            <a:ext cx="2103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FFC93C"/>
                </a:solidFill>
                <a:latin typeface="Calibri"/>
              </a:rPr>
              <a:t>Intermediate result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895344"/>
            <a:ext cx="83210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948FA0"/>
                </a:solidFill>
                <a:latin typeface="Calibri"/>
              </a:rPr>
              <a:t>Show the agent's own check failing it (21.3% distortion) and discarding it.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517136"/>
            <a:ext cx="256032" cy="256032"/>
          </a:xfrm>
          <a:prstGeom prst="roundRect">
            <a:avLst>
              <a:gd name="adj" fmla="val 30000"/>
            </a:avLst>
          </a:prstGeom>
          <a:noFill/>
          <a:ln w="25400">
            <a:solidFill>
              <a:srgbClr val="FFC9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4462272"/>
            <a:ext cx="2103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FFC93C"/>
                </a:solidFill>
                <a:latin typeface="Calibri"/>
              </a:rPr>
              <a:t>Adaptation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4462272"/>
            <a:ext cx="83210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948FA0"/>
                </a:solidFill>
                <a:latin typeface="Calibri"/>
              </a:rPr>
              <a:t>Show the escalation to KNN imputation, and it passing (7.6%).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084064"/>
            <a:ext cx="256032" cy="256032"/>
          </a:xfrm>
          <a:prstGeom prst="roundRect">
            <a:avLst>
              <a:gd name="adj" fmla="val 30000"/>
            </a:avLst>
          </a:prstGeom>
          <a:noFill/>
          <a:ln w="25400">
            <a:solidFill>
              <a:srgbClr val="FFC9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5029200"/>
            <a:ext cx="2103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FFC93C"/>
                </a:solidFill>
                <a:latin typeface="Calibri"/>
              </a:rPr>
              <a:t>Final outcome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5029200"/>
            <a:ext cx="83210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948FA0"/>
                </a:solidFill>
                <a:latin typeface="Calibri"/>
              </a:rPr>
              <a:t>Jump to Final Project — the full recap, chosen model, portfolio-ready analysis.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5650992"/>
            <a:ext cx="256032" cy="256032"/>
          </a:xfrm>
          <a:prstGeom prst="roundRect">
            <a:avLst>
              <a:gd name="adj" fmla="val 30000"/>
            </a:avLst>
          </a:prstGeom>
          <a:noFill/>
          <a:ln w="25400">
            <a:solidFill>
              <a:srgbClr val="FFC9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1560" y="5596128"/>
            <a:ext cx="2103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FFC93C"/>
                </a:solidFill>
                <a:latin typeface="Calibri"/>
              </a:rPr>
              <a:t>Failure/unexpected condition (encouraged)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5596128"/>
            <a:ext cx="83210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948FA0"/>
                </a:solidFill>
                <a:latin typeface="Calibri"/>
              </a:rPr>
              <a:t>Show the AI Mentor or chat gracefully degrading when a key/quota fails — the honest fallback tier, not a crash.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635D6E"/>
                </a:solidFill>
                <a:latin typeface="Consolas"/>
              </a:rPr>
              <a:t>VYBE Learn · built for people who have real work to do, not a semester to spend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A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F3EA5"/>
                </a:solidFill>
                <a:latin typeface="Consolas"/>
              </a:rPr>
              <a:t>DEPLOYMENT / RUNNABLE VERSION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4F2F7"/>
                </a:solidFill>
                <a:latin typeface="Georgia"/>
              </a:rPr>
              <a:t>Live right now — no setup needed for judges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4592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16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18872"/>
          <a:lstStyle/>
          <a:p>
            <a:pPr algn="ctr"/>
            <a:r>
              <a:rPr sz="1400" b="1" i="0">
                <a:solidFill>
                  <a:srgbClr val="F4F2F7"/>
                </a:solidFill>
                <a:latin typeface="Georgia"/>
              </a:rPr>
              <a:t>Web application   </a:t>
            </a:r>
            <a:r>
              <a:rPr sz="1300" b="0" i="0">
                <a:solidFill>
                  <a:srgbClr val="FF3EA5"/>
                </a:solidFill>
                <a:latin typeface="Consolas"/>
              </a:rPr>
              <a:t>vybelearn.vercel.app</a:t>
            </a:r>
          </a:p>
          <a:p>
            <a:pPr>
              <a:spcBef>
                <a:spcPts val="300"/>
              </a:spcBef>
            </a:pPr>
            <a:r>
              <a:rPr sz="1150" b="0" i="0">
                <a:solidFill>
                  <a:srgbClr val="948FA0"/>
                </a:solidFill>
                <a:latin typeface="Calibri"/>
              </a:rPr>
              <a:t>The full learner experience — upload a CSV or try the sample.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69748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16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18872"/>
          <a:lstStyle/>
          <a:p>
            <a:pPr algn="ctr"/>
            <a:r>
              <a:rPr sz="1400" b="1" i="0">
                <a:solidFill>
                  <a:srgbClr val="F4F2F7"/>
                </a:solidFill>
                <a:latin typeface="Georgia"/>
              </a:rPr>
              <a:t>Backend API   </a:t>
            </a:r>
            <a:r>
              <a:rPr sz="1300" b="0" i="0">
                <a:solidFill>
                  <a:srgbClr val="FF3EA5"/>
                </a:solidFill>
                <a:latin typeface="Consolas"/>
              </a:rPr>
              <a:t>personalized-data-science-tutor.onrender.com</a:t>
            </a:r>
          </a:p>
          <a:p>
            <a:pPr>
              <a:spcBef>
                <a:spcPts val="300"/>
              </a:spcBef>
            </a:pPr>
            <a:r>
              <a:rPr sz="1150" b="0" i="0">
                <a:solidFill>
                  <a:srgbClr val="948FA0"/>
                </a:solidFill>
                <a:latin typeface="Calibri"/>
              </a:rPr>
              <a:t>FastAPI service the frontend calls — /api/docs for the raw endpoints.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74904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16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18872"/>
          <a:lstStyle/>
          <a:p>
            <a:pPr algn="ctr"/>
            <a:r>
              <a:rPr sz="1400" b="1" i="0">
                <a:solidFill>
                  <a:srgbClr val="F4F2F7"/>
                </a:solidFill>
                <a:latin typeface="Georgia"/>
              </a:rPr>
              <a:t>ADK tutor service   </a:t>
            </a:r>
            <a:r>
              <a:rPr sz="1300" b="0" i="0">
                <a:solidFill>
                  <a:srgbClr val="FF3EA5"/>
                </a:solidFill>
                <a:latin typeface="Consolas"/>
              </a:rPr>
              <a:t>vybe-learn.onrender.com</a:t>
            </a:r>
          </a:p>
          <a:p>
            <a:pPr>
              <a:spcBef>
                <a:spcPts val="300"/>
              </a:spcBef>
            </a:pPr>
            <a:r>
              <a:rPr sz="1150" b="0" i="0">
                <a:solidFill>
                  <a:srgbClr val="948FA0"/>
                </a:solidFill>
                <a:latin typeface="Calibri"/>
              </a:rPr>
              <a:t>The multi-agent tutor backing the richer AI Mentor tier.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029200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4F2F7"/>
                </a:solidFill>
                <a:latin typeface="Calibri"/>
              </a:rPr>
              <a:t>Fallback — local setup (both repos have README instructions):</a:t>
            </a:r>
          </a:p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948FA0"/>
                </a:solidFill>
                <a:latin typeface="Consolas"/>
              </a:rPr>
              <a:t>pip install -r requirements.txt  &amp;&amp;  uvicorn web.api:app --reload   (backend)      cd web/ui &amp;&amp; npm install &amp;&amp; npm run dev   (frontend)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635D6E"/>
                </a:solidFill>
                <a:latin typeface="Consolas"/>
              </a:rPr>
              <a:t>Free-tier hosting: first request after idle can take up to ~50s to wake the instance — not a bug, just Render's free plan.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A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276088" y="1554480"/>
            <a:ext cx="1645920" cy="1645920"/>
          </a:xfrm>
          <a:prstGeom prst="roundRect">
            <a:avLst>
              <a:gd name="adj" fmla="val 42000"/>
            </a:avLst>
          </a:prstGeom>
          <a:noFill/>
          <a:ln w="38100">
            <a:solidFill>
              <a:srgbClr val="FF3E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761635" y="2336292"/>
            <a:ext cx="148132" cy="148132"/>
          </a:xfrm>
          <a:prstGeom prst="ellipse">
            <a:avLst/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288329" y="2336292"/>
            <a:ext cx="148132" cy="148132"/>
          </a:xfrm>
          <a:prstGeom prst="ellipse">
            <a:avLst/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 rot="10800000">
            <a:off x="5885079" y="2640787"/>
            <a:ext cx="427939" cy="164592"/>
          </a:xfrm>
          <a:prstGeom prst="roundRect">
            <a:avLst>
              <a:gd name="adj" fmla="val 100000"/>
            </a:avLst>
          </a:prstGeom>
          <a:noFill/>
          <a:ln w="31750">
            <a:solidFill>
              <a:srgbClr val="FF3E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 flipV="1">
            <a:off x="6296558" y="1324052"/>
            <a:ext cx="164592" cy="230428"/>
          </a:xfrm>
          <a:prstGeom prst="line">
            <a:avLst/>
          </a:prstGeom>
          <a:ln w="31750">
            <a:solidFill>
              <a:srgbClr val="FF3E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6403543" y="1266445"/>
            <a:ext cx="115214" cy="115214"/>
          </a:xfrm>
          <a:prstGeom prst="ellipse">
            <a:avLst/>
          </a:prstGeom>
          <a:solidFill>
            <a:srgbClr val="FF3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384048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1" i="0">
                <a:solidFill>
                  <a:srgbClr val="F4F2F7"/>
                </a:solidFill>
                <a:latin typeface="Georgia"/>
              </a:rPr>
              <a:t>Raj didn't need a course. He needed a guide.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57200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948FA0"/>
                </a:solidFill>
                <a:latin typeface="Calibri"/>
              </a:rPr>
              <a:t>That's what we built.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548640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FF3EA5"/>
                </a:solidFill>
                <a:latin typeface="Consolas"/>
              </a:rPr>
              <a:t>vybelearn.vercel.app</a:t>
            </a:r>
          </a:p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635D6E"/>
                </a:solidFill>
                <a:latin typeface="Consolas"/>
              </a:rPr>
              <a:t>github.com/kanishkaanand0911-dotcom/personalized-data-science-tutor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