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3EA5"/>
                </a:solidFill>
                <a:latin typeface="Consolas"/>
              </a:rPr>
              <a:t>SYSTEM ARCHITECTURE &amp; PITCH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4F2F7"/>
                </a:solidFill>
                <a:latin typeface="Georgia"/>
              </a:rPr>
              <a:t>An agent that shows its work,</a:t>
            </a:r>
          </a:p>
          <a:p>
            <a:r>
              <a:rPr sz="4000" b="1" i="0">
                <a:solidFill>
                  <a:srgbClr val="F4F2F7"/>
                </a:solidFill>
                <a:latin typeface="Georgia"/>
              </a:rPr>
              <a:t>teaching the work it shows.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8FA0"/>
                </a:solidFill>
                <a:latin typeface="Calibri"/>
              </a:rPr>
              <a:t>VYBE Learn is a gamified data-science tutor built around one real constraint: a deterministic agent cleans data and selects a model on its own - observe, decide, act, evaluate, adapt - and the learner's job is to predict what it will do, not steer it. An LLM narrates and tutors on top; it never makes the analytical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681728"/>
            <a:ext cx="1472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4F2F7"/>
                </a:solidFill>
                <a:latin typeface="Consolas"/>
              </a:rPr>
              <a:t>2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loops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948FA0"/>
                </a:solidFill>
                <a:latin typeface="Calibri"/>
              </a:rPr>
              <a:t>Real agentic decisions, not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4328" y="45720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34056" y="4681728"/>
            <a:ext cx="1472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4F2F7"/>
                </a:solidFill>
                <a:latin typeface="Consolas"/>
              </a:rPr>
              <a:t>6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stages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948FA0"/>
                </a:solidFill>
                <a:latin typeface="Calibri"/>
              </a:rPr>
              <a:t>Python fundamentals → final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45720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4681728"/>
            <a:ext cx="1472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4F2F7"/>
                </a:solidFill>
                <a:latin typeface="Consolas"/>
              </a:rPr>
              <a:t>3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tiers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948FA0"/>
                </a:solidFill>
                <a:latin typeface="Calibri"/>
              </a:rPr>
              <a:t>Tutor fallback, always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45720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681728"/>
            <a:ext cx="1472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4F2F7"/>
                </a:solidFill>
                <a:latin typeface="Consolas"/>
              </a:rPr>
              <a:t>3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modes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948FA0"/>
                </a:solidFill>
                <a:latin typeface="Calibri"/>
              </a:rPr>
              <a:t>Mentor: guided / assisted / independent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45720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681728"/>
            <a:ext cx="1472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4F2F7"/>
                </a:solidFill>
                <a:latin typeface="Consolas"/>
              </a:rPr>
              <a:t>37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/ 37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948FA0"/>
                </a:solidFill>
                <a:latin typeface="Calibri"/>
              </a:rPr>
              <a:t>Backend tests 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45720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9528" y="4681728"/>
            <a:ext cx="1472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4F2F7"/>
                </a:solidFill>
                <a:latin typeface="Consolas"/>
              </a:rPr>
              <a:t>0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invented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948FA0"/>
                </a:solidFill>
                <a:latin typeface="Calibri"/>
              </a:rPr>
              <a:t>Numbers on screen - all traced to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THE MOMENT THAT SELLS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Watch it change its mind, on your own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8FA0"/>
                </a:solidFill>
                <a:latin typeface="Calibri"/>
              </a:rPr>
              <a:t>This is the actual reveal log from a live run on the sample dataset - not a scripted demo path. The agent tried the obvious fix, measured that it distorted the column, and switched strategies before ever showing the learner an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08070B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</a:pPr>
            <a:r>
              <a:rPr sz="1300" b="0" i="0">
                <a:solidFill>
                  <a:srgbClr val="635D6E"/>
                </a:solidFill>
                <a:latin typeface="Consolas"/>
              </a:rPr>
              <a:t>$ agent.clean(column="deal_value", issue="missing_numeric")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FF6B7A"/>
                </a:solidFill>
                <a:latin typeface="Consolas"/>
              </a:rPr>
              <a:t>DISCARDED  impute_median  →  skew shifted 21.3% (2.186 → 2.651), exceeds 15.0% threshold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3DDC8A"/>
                </a:solidFill>
                <a:latin typeface="Consolas"/>
              </a:rPr>
              <a:t>KEPT       impute_knn     →  skew shift 7.6%, within 15.0% threshold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635D6E"/>
                </a:solidFill>
                <a:latin typeface="Consolas"/>
              </a:rPr>
              <a:t>$ agent.select_model(target="deal_value")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3DDC8A"/>
                </a:solidFill>
                <a:latin typeface="Consolas"/>
              </a:rPr>
              <a:t>KEPT       LinearRegression  →  R²=0.287, residual↔prediction corr=0.142 (≤0.25) → acceptable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948FA0"/>
                </a:solidFill>
                <a:latin typeface="Calibri"/>
              </a:rPr>
              <a:t>Every number above is a live computation, </a:t>
            </a:r>
            <a:r>
              <a:rPr sz="1400" b="1" i="0">
                <a:solidFill>
                  <a:srgbClr val="F4F2F7"/>
                </a:solidFill>
                <a:latin typeface="Calibri"/>
              </a:rPr>
              <a:t>re-run for whatever dataset the judge uploads</a:t>
            </a:r>
            <a:r>
              <a:rPr sz="1400" b="0" i="0">
                <a:solidFill>
                  <a:srgbClr val="948FA0"/>
                </a:solidFill>
                <a:latin typeface="Calibri"/>
              </a:rPr>
              <a:t> - not a cached string. That's the difference between “an AI-themed UI” and an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01 — SYSTEM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Four layers, one honesty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8FA0"/>
                </a:solidFill>
                <a:latin typeface="Calibri"/>
              </a:rPr>
              <a:t>The UI never computes an analytical result itself - every number, chart, and decision is fetched from the deterministic core. The LLM layer only ever narrates or tutors around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/>
            <a:r>
              <a:rPr sz="1500" b="1" i="0">
                <a:solidFill>
                  <a:srgbClr val="F4F2F7"/>
                </a:solidFill>
                <a:latin typeface="Georgia"/>
              </a:rPr>
              <a:t>Browser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  React 19 + Vite + Tailwind v4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948FA0"/>
                </a:solidFill>
                <a:latin typeface="Consolas"/>
              </a:rPr>
              <a:t>Screen state machine · AI Mentor panel ·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3152" cy="960120"/>
          </a:xfrm>
          <a:prstGeom prst="rect">
            <a:avLst/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3159252"/>
            <a:ext cx="9144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5D6E"/>
                </a:solidFill>
                <a:latin typeface="Calibr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64408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/>
            <a:r>
              <a:rPr sz="1500" b="1" i="0">
                <a:solidFill>
                  <a:srgbClr val="F4F2F7"/>
                </a:solidFill>
                <a:latin typeface="Georgia"/>
              </a:rPr>
              <a:t>FastAPI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  web/api.py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948FA0"/>
                </a:solidFill>
                <a:latin typeface="Consolas"/>
              </a:rPr>
              <a:t>In-memory Session store · /api/dataset /api/levels /api/mentor 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64408"/>
            <a:ext cx="73152" cy="960120"/>
          </a:xfrm>
          <a:prstGeom prst="rect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4229100"/>
            <a:ext cx="9144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5D6E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3425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/>
            <a:r>
              <a:rPr sz="1500" b="1" i="0">
                <a:solidFill>
                  <a:srgbClr val="F4F2F7"/>
                </a:solidFill>
                <a:latin typeface="Georgia"/>
              </a:rPr>
              <a:t>Deterministic core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  decisions never LLM-made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948FA0"/>
                </a:solidFill>
                <a:latin typeface="Consolas"/>
              </a:rPr>
              <a:t>detect.py → loop.py → actions.py · model_selector.py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34256"/>
            <a:ext cx="73152" cy="960120"/>
          </a:xfrm>
          <a:prstGeom prst="rect">
            <a:avLst/>
          </a:prstGeom>
          <a:solidFill>
            <a:srgbClr val="3DD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5298948"/>
            <a:ext cx="9144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5D6E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0410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/>
            <a:r>
              <a:rPr sz="1500" b="1" i="0">
                <a:solidFill>
                  <a:srgbClr val="F4F2F7"/>
                </a:solidFill>
                <a:latin typeface="Georgia"/>
              </a:rPr>
              <a:t>3-tier tutor</a:t>
            </a:r>
            <a:r>
              <a:rPr sz="1100" b="0" i="0">
                <a:solidFill>
                  <a:srgbClr val="635D6E"/>
                </a:solidFill>
                <a:latin typeface="Consolas"/>
              </a:rPr>
              <a:t>   explanation only, never decides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948FA0"/>
                </a:solidFill>
                <a:latin typeface="Consolas"/>
              </a:rPr>
              <a:t>ADK multi-agent → direct Gemini → deterministic FAQ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404104"/>
            <a:ext cx="73152" cy="96012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02 — THE ACTUAL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Observe → decide → act → evaluate → adapt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8FA0"/>
                </a:solidFill>
                <a:latin typeface="Calibri"/>
              </a:rPr>
              <a:t>The same five-step loop runs twice: once choosing a cleaning strategy per column, once choosing a regression model. Each escalation is justified by a specific measured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066543" cy="16459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3EA5"/>
                </a:solidFill>
                <a:latin typeface="Consolas"/>
              </a:rPr>
              <a:t>01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F2F7"/>
                </a:solidFill>
                <a:latin typeface="Georgia"/>
              </a:rPr>
              <a:t>Observe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Column stats, skew, null% — or dataset shape, feature count, linearity.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8063" y="2286000"/>
            <a:ext cx="2066543" cy="16459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3EA5"/>
                </a:solidFill>
                <a:latin typeface="Consolas"/>
              </a:rPr>
              <a:t>02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F2F7"/>
                </a:solidFill>
                <a:latin typeface="Georgia"/>
              </a:rPr>
              <a:t>Decide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Pick the simplest candidate strategy first, with a stated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6" y="2286000"/>
            <a:ext cx="2066543" cy="16459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3EA5"/>
                </a:solidFill>
                <a:latin typeface="Consolas"/>
              </a:rPr>
              <a:t>03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F2F7"/>
                </a:solidFill>
                <a:latin typeface="Georgia"/>
              </a:rPr>
              <a:t>Act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Apply the transform, or fit the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4029" y="2286000"/>
            <a:ext cx="2066543" cy="16459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3EA5"/>
                </a:solidFill>
                <a:latin typeface="Consolas"/>
              </a:rPr>
              <a:t>04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F2F7"/>
                </a:solidFill>
                <a:latin typeface="Georgia"/>
              </a:rPr>
              <a:t>Evaluate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Re-measure: skew shift, cross-validated R²/RMSE, residual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72012" y="2286000"/>
            <a:ext cx="2066543" cy="164592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3EA5"/>
                </a:solidFill>
                <a:latin typeface="Consolas"/>
              </a:rPr>
              <a:t>05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F2F7"/>
                </a:solidFill>
                <a:latin typeface="Georgia"/>
              </a:rPr>
              <a:t>Adapt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Pass → keep. Fail → escalate to the next candidate and repeat.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0" i="0">
                <a:solidFill>
                  <a:srgbClr val="FFC93C"/>
                </a:solidFill>
                <a:latin typeface="Consolas"/>
              </a:rPr>
              <a:t>skew shift ≤ 15%  →  cleaning fix kept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16052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0" i="0">
                <a:solidFill>
                  <a:srgbClr val="FFC93C"/>
                </a:solidFill>
                <a:latin typeface="Consolas"/>
              </a:rPr>
              <a:t>R² ≥ 0.15  →  model acceptable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16052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0" i="0">
                <a:solidFill>
                  <a:srgbClr val="FFC93C"/>
                </a:solidFill>
                <a:latin typeface="Consolas"/>
              </a:rPr>
              <a:t>|residual↔pred corr| ≤ 0.25  →  no missed pattern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937760"/>
          <a:ext cx="108813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209005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Issue type</a:t>
                      </a:r>
                    </a:p>
                  </a:txBody>
                  <a:tcPr marL="91440" marT="27432" marB="27432">
                    <a:solidFill>
                      <a:srgbClr val="1D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Candidate ladder (simplest first)</a:t>
                      </a:r>
                    </a:p>
                  </a:txBody>
                  <a:tcPr marL="91440" marT="27432" marB="27432">
                    <a:solidFill>
                      <a:srgbClr val="1D1A2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Missing numeric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48FA0"/>
                          </a:solidFill>
                          <a:latin typeface="Calibri"/>
                        </a:rPr>
                        <a:t>impute_median → impute_knn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Missing categorical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48FA0"/>
                          </a:solidFill>
                          <a:latin typeface="Calibri"/>
                        </a:rPr>
                        <a:t>impute_mode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Inconsistent labels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48FA0"/>
                          </a:solidFill>
                          <a:latin typeface="Calibri"/>
                        </a:rPr>
                        <a:t>normalize_categories (fuzzy match)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Numbers stored as text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48FA0"/>
                          </a:solidFill>
                          <a:latin typeface="Calibri"/>
                        </a:rPr>
                        <a:t>coerce_numeric_strings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Mixed-up date formats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48FA0"/>
                          </a:solidFill>
                          <a:latin typeface="Calibri"/>
                        </a:rPr>
                        <a:t>coerce_dates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</a:tr>
              <a:tr h="20901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Model family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48FA0"/>
                          </a:solidFill>
                          <a:latin typeface="Calibri"/>
                        </a:rPr>
                        <a:t>LinearRegression → Ridge → RandomForest → GradientBoosting</a:t>
                      </a:r>
                    </a:p>
                  </a:txBody>
                  <a:tcPr marL="91440" marT="27432" marB="27432">
                    <a:solidFill>
                      <a:srgbClr val="16141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03 — NEVER A DEAD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Three tutor tiers, one honest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8FA0"/>
                </a:solidFill>
                <a:latin typeface="Calibri"/>
              </a:rPr>
              <a:t>Every chat and mentor reply tries the richest source first and degrades gracefully - each tier returns nothing rather than a guess, so a missing key or a second server never breaks the chat.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468880"/>
          <a:ext cx="1088135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017520"/>
                <a:gridCol w="3749039"/>
                <a:gridCol w="338328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Adds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Fails silently when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4F2F7"/>
                          </a:solidFill>
                          <a:latin typeface="Calibri"/>
                        </a:rPr>
                        <a:t>ADK multi-agent tutor (port 8765)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Profiler + gamification agents - real XP, badges, profile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Server not running, or its key is invalid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4F2F7"/>
                          </a:solidFill>
                          <a:latin typeface="Calibri"/>
                        </a:rPr>
                        <a:t>Direct Gemini (google-genai)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Live, grounded answer, no memory layer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No/invalid GEMINI_API_KEY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4F2F7"/>
                          </a:solidFill>
                          <a:latin typeface="Calibri"/>
                        </a:rPr>
                        <a:t>Deterministic FAQ + rule-based reply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Always available, zero external dependency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never - this is the floor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04 — BUILT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AI Mentor: platform-wide, mode-aware coaching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8FA0"/>
                </a:solidFill>
                <a:latin typeface="Calibri"/>
              </a:rPr>
              <a:t>A floating panel available from any screen, fed a live context object instead of just the last message - instructed to nudge, not solve, until the learner has actually tried.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18872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3EA5"/>
                </a:solidFill>
                <a:latin typeface="Consolas"/>
              </a:rPr>
              <a:t>GUIDED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4F2F7"/>
                </a:solidFill>
                <a:latin typeface="Georgia"/>
              </a:rPr>
              <a:t>Struggling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Very simple language, one step at a time, concrete example, one question per reply.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33672" y="21945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18872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3EA5"/>
                </a:solidFill>
                <a:latin typeface="Consolas"/>
              </a:rPr>
              <a:t>ASSISTED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4F2F7"/>
                </a:solidFill>
                <a:latin typeface="Georgia"/>
              </a:rPr>
              <a:t>Making progress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Names the concept, gives a partial hint, asks for another attempt before revealing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27264" y="21945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18872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3EA5"/>
                </a:solidFill>
                <a:latin typeface="Consolas"/>
              </a:rPr>
              <a:t>INDEPENDENT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4F2F7"/>
                </a:solidFill>
                <a:latin typeface="Georgia"/>
              </a:rPr>
              <a:t>Confident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Minimal hints - asks the learner to justify their own reasoning and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0" i="0">
                <a:solidFill>
                  <a:srgbClr val="948FA0"/>
                </a:solidFill>
                <a:latin typeface="Calibri"/>
              </a:rPr>
              <a:t>Explain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3794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0" i="0">
                <a:solidFill>
                  <a:srgbClr val="948FA0"/>
                </a:solidFill>
                <a:latin typeface="Calibri"/>
              </a:rPr>
              <a:t>Give me a hint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3794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0" i="0">
                <a:solidFill>
                  <a:srgbClr val="948FA0"/>
                </a:solidFill>
                <a:latin typeface="Calibri"/>
              </a:rPr>
              <a:t>Why is this wrong?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7104" y="3794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0" i="0">
                <a:solidFill>
                  <a:srgbClr val="948FA0"/>
                </a:solidFill>
                <a:latin typeface="Calibri"/>
              </a:rPr>
              <a:t>Show an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3794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0" i="0">
                <a:solidFill>
                  <a:srgbClr val="948FA0"/>
                </a:solidFill>
                <a:latin typeface="Calibri"/>
              </a:rPr>
              <a:t>Explain the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40" y="3794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0" i="0">
                <a:solidFill>
                  <a:srgbClr val="948FA0"/>
                </a:solidFill>
                <a:latin typeface="Calibri"/>
              </a:rPr>
              <a:t>What should I try next?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4000"/>
            </a:avLst>
          </a:prstGeom>
          <a:solidFill>
            <a:srgbClr val="1D1A25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{ "user_message": "...",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  "current_lesson": { title, objective, difficulty, step },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  "dataset": { name, columns, shape, current_version },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  "current_code": "...", "last_output": "...", "last_error": "...",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  "attempt_count": 0, "hints_used": 0, "mastery_level": 0,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  "learning_mode": "guided|assisted|independent",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8FA0"/>
                </a:solidFill>
                <a:latin typeface="Consolas"/>
              </a:rPr>
              <a:t>  "previous_mistakes": [], "recent_actions": []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05 —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A frozen encoder plus a small trained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8FA0"/>
                </a:solidFill>
                <a:latin typeface="Calibri"/>
              </a:rPr>
              <a:t>Before the mentor answers, a small model works out what kind of help the learner is asking for. It only routes: Gemini still writes every reply, and with no encoder the chat behaves as it always did.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502152" cy="132588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1  Frozen encoder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48FA0"/>
                </a:solidFill>
                <a:latin typeface="Calibri"/>
              </a:rPr>
              <a:t>BAAI/bge-small-en-v1.5 already understands language. We never retrain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2194560"/>
            <a:ext cx="3502152" cy="132588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2  Small trained head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48FA0"/>
                </a:solidFill>
                <a:latin typeface="Calibri"/>
              </a:rPr>
              <a:t>Logistic regression on 186 labelled learner questions picks one of 7 intents, or says it is not 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194560"/>
            <a:ext cx="3502152" cy="132588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3  Tailored reply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48FA0"/>
                </a:solidFill>
                <a:latin typeface="Calibri"/>
              </a:rPr>
              <a:t>The intent, the learner's level and their role, experience and goal shape the prompt.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749039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468880"/>
                <a:gridCol w="246888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Test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Transfer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Baseline (TF-IDF)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4F2F7"/>
                          </a:solidFill>
                          <a:latin typeface="Calibri"/>
                        </a:rPr>
                        <a:t>5-fold cross-validation, 186 questions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DDC8A"/>
                          </a:solidFill>
                          <a:latin typeface="Calibri"/>
                        </a:rPr>
                        <a:t>93.5%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71.0%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4F2F7"/>
                          </a:solidFill>
                          <a:latin typeface="Calibri"/>
                        </a:rPr>
                        <a:t>Only 2 labelled examples per intent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DDC8A"/>
                          </a:solidFill>
                          <a:latin typeface="Calibri"/>
                        </a:rPr>
                        <a:t>73.2%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41.1%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4F2F7"/>
                          </a:solidFill>
                          <a:latin typeface="Calibri"/>
                        </a:rPr>
                        <a:t>Only 8 labelled examples per intent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DDC8A"/>
                          </a:solidFill>
                          <a:latin typeface="Calibri"/>
                        </a:rPr>
                        <a:t>87.1%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57.9%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4F2F7"/>
                          </a:solidFill>
                          <a:latin typeface="Calibri"/>
                        </a:rPr>
                        <a:t>Only 16 labelled examples per intent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DDC8A"/>
                          </a:solidFill>
                          <a:latin typeface="Calibri"/>
                        </a:rPr>
                        <a:t>90.4%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62.1%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On 56 held-out messages: 98.2% with no wrong labels, and the baseline reaches 92.9% there, so the gap is small. We wrote those messages ourselves, which makes them easier than real learners. The few-shot rows are the real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app/intent + web/persona.py · docs/transfer-learning.md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06 —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Six stages, ten real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48FA0"/>
                </a:solidFill>
                <a:latin typeface="Calibri"/>
              </a:rPr>
              <a:t>Verification is a bridging step between Cleaning and EDA - real, tested functionality, kept because it's the honest answer to “did the fix actually work?”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457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3EA5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10332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4F2F7"/>
                </a:solidFill>
                <a:latin typeface="Georgia"/>
              </a:rPr>
              <a:t>Python &amp; Data Fundamentals  </a:t>
            </a:r>
            <a:r>
              <a:rPr sz="1100" b="0" i="0">
                <a:solidFill>
                  <a:srgbClr val="948FA0"/>
                </a:solidFill>
                <a:latin typeface="Calibri"/>
              </a:rPr>
              <a:t>Read a CSV, understand rows/columns, real pd.read_csv / df.shape / df.columns.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33472"/>
            <a:ext cx="457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3EA5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33472"/>
            <a:ext cx="10332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4F2F7"/>
                </a:solidFill>
                <a:latin typeface="Georgia"/>
              </a:rPr>
              <a:t>Data Cleaning  </a:t>
            </a:r>
            <a:r>
              <a:rPr sz="1100" b="0" i="0">
                <a:solidFill>
                  <a:srgbClr val="948FA0"/>
                </a:solidFill>
                <a:latin typeface="Calibri"/>
              </a:rPr>
              <a:t>One level per detected issue. ⏭ “Skip cleaning” jumps straight to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9544"/>
            <a:ext cx="457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3EA5"/>
                </a:solidFill>
                <a:latin typeface="Consola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9544"/>
            <a:ext cx="10332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4F2F7"/>
                </a:solidFill>
                <a:latin typeface="Georgia"/>
              </a:rPr>
              <a:t>Verification (bridge)  </a:t>
            </a:r>
            <a:r>
              <a:rPr sz="1100" b="0" i="0">
                <a:solidFill>
                  <a:srgbClr val="948FA0"/>
                </a:solidFill>
                <a:latin typeface="Calibri"/>
              </a:rPr>
              <a:t>Real downstream tasks on cleaned data - aggregation, a bar chart, a trend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85616"/>
            <a:ext cx="457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3EA5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85616"/>
            <a:ext cx="10332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4F2F7"/>
                </a:solidFill>
                <a:latin typeface="Georgia"/>
              </a:rPr>
              <a:t>Exploratory Data Analysis  </a:t>
            </a:r>
            <a:r>
              <a:rPr sz="1100" b="0" i="0">
                <a:solidFill>
                  <a:srgbClr val="948FA0"/>
                </a:solidFill>
                <a:latin typeface="Calibri"/>
              </a:rPr>
              <a:t>Real histograms, category bars, trend - plus a correlation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457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3EA5"/>
                </a:solidFill>
                <a:latin typeface="Consola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61688"/>
            <a:ext cx="10332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4F2F7"/>
                </a:solidFill>
                <a:latin typeface="Georgia"/>
              </a:rPr>
              <a:t>Machine Learning Foundations  </a:t>
            </a:r>
            <a:r>
              <a:rPr sz="1100" b="0" i="0">
                <a:solidFill>
                  <a:srgbClr val="948FA0"/>
                </a:solidFill>
                <a:latin typeface="Calibri"/>
              </a:rPr>
              <a:t>Target, features, train/test split, regression vs. classification.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457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3EA5"/>
                </a:solidFill>
                <a:latin typeface="Consola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10332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4F2F7"/>
                </a:solidFill>
                <a:latin typeface="Georgia"/>
              </a:rPr>
              <a:t>Model Selection &amp; Evaluation  </a:t>
            </a:r>
            <a:r>
              <a:rPr sz="1100" b="0" i="0">
                <a:solidFill>
                  <a:srgbClr val="948FA0"/>
                </a:solidFill>
                <a:latin typeface="Calibri"/>
              </a:rPr>
              <a:t>The second agentic loop, narrated. ⏭ “Skip modeling” 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13832"/>
            <a:ext cx="457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3EA5"/>
                </a:solidFill>
                <a:latin typeface="Consolas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13832"/>
            <a:ext cx="10332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4F2F7"/>
                </a:solidFill>
                <a:latin typeface="Georgia"/>
              </a:rPr>
              <a:t>Final Project  </a:t>
            </a:r>
            <a:r>
              <a:rPr sz="1100" b="0" i="0">
                <a:solidFill>
                  <a:srgbClr val="948FA0"/>
                </a:solidFill>
                <a:latin typeface="Calibri"/>
              </a:rPr>
              <a:t>Full recap - every cleaning decision, every chart, the chosen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07 —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What it's actually built 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66928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Layer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Library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Version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React / React DOM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19.2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Vite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8.3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TypeScript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~6.0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Tailwind CSS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4.3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framer-motion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13.2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≥0.110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Uvicorn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≥0.27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pandas / numpy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≥2.0 / ≥1.24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Modeling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≥1.3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Modeling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matplotlib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≥3.7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AI / narration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google-genai (direct Gemini)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≥0.1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AI / narration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Google ADK (separate service)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Gemini 3.6 Flash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4F2F7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alibri"/>
                        </a:rPr>
                        <a:t>pytest + httpx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48FA0"/>
                          </a:solidFill>
                          <a:latin typeface="Consolas"/>
                        </a:rPr>
                        <a:t>≥7.4 / ≥0.27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08 — THE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Why this beats a chatbot wrapper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23360"/>
                <a:gridCol w="402336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Axis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Typical AI-tutor demo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635D6E"/>
                          </a:solidFill>
                          <a:latin typeface="Consolas"/>
                        </a:rPr>
                        <a:t>VYBE Learn</a:t>
                      </a:r>
                    </a:p>
                  </a:txBody>
                  <a:tcPr marL="109728" anchor="ctr">
                    <a:solidFill>
                      <a:srgbClr val="1D1A25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Who decides the fix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F6B7A"/>
                          </a:solidFill>
                          <a:latin typeface="Calibri"/>
                        </a:rPr>
                        <a:t>✗  the LLM guesses in-context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DC8A"/>
                          </a:solidFill>
                          <a:latin typeface="Calibri"/>
                        </a:rPr>
                        <a:t>✓  a deterministic loop, measured and re-checked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Why a fix was kept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F6B7A"/>
                          </a:solidFill>
                          <a:latin typeface="Calibri"/>
                        </a:rPr>
                        <a:t>✗  a plausible-sounding sentence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DC8A"/>
                          </a:solidFill>
                          <a:latin typeface="Calibri"/>
                        </a:rPr>
                        <a:t>✓  a real skew-shift number against a stated threshold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When the model breaks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F6B7A"/>
                          </a:solidFill>
                          <a:latin typeface="Calibri"/>
                        </a:rPr>
                        <a:t>✗  stalls, apologizes, or hallucinates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DC8A"/>
                          </a:solidFill>
                          <a:latin typeface="Calibri"/>
                        </a:rPr>
                        <a:t>✓  falls through ADK → Gemini → FAQ, discloses which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Personalization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F6B7A"/>
                          </a:solidFill>
                          <a:latin typeface="Calibri"/>
                        </a:rPr>
                        <a:t>✗  one-size tone knob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DC8A"/>
                          </a:solidFill>
                          <a:latin typeface="Calibri"/>
                        </a:rPr>
                        <a:t>✓  3 modes, driven by real hint/attempt counters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Cheats the learner?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F6B7A"/>
                          </a:solidFill>
                          <a:latin typeface="Calibri"/>
                        </a:rPr>
                        <a:t>✗  answers before they've tried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DC8A"/>
                          </a:solidFill>
                          <a:latin typeface="Calibri"/>
                        </a:rPr>
                        <a:t>✓  nudges only, reveal gated on attempt history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4F2F7"/>
                          </a:solidFill>
                          <a:latin typeface="Calibri"/>
                        </a:rPr>
                        <a:t>Respects prior knowledge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F6B7A"/>
                          </a:solidFill>
                          <a:latin typeface="Calibri"/>
                        </a:rPr>
                        <a:t>✗  forces every learner through every step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DC8A"/>
                          </a:solidFill>
                          <a:latin typeface="Calibri"/>
                        </a:rPr>
                        <a:t>✓  explicit Skip actions, no faked checkmarks</a:t>
                      </a:r>
                    </a:p>
                  </a:txBody>
                  <a:tcPr marL="109728" anchor="ctr">
                    <a:solidFill>
                      <a:srgbClr val="16141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983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3EA5"/>
                </a:solidFill>
                <a:latin typeface="Consolas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F2F7"/>
                </a:solidFill>
                <a:latin typeface="Georgia"/>
              </a:rPr>
              <a:t>Technical depth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48FA0"/>
                </a:solidFill>
                <a:latin typeface="Calibri"/>
              </a:rPr>
              <a:t>Two independent agentic loops with real statistical acceptance criteria.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4983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3EA5"/>
                </a:solidFill>
                <a:latin typeface="Consolas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F2F7"/>
                </a:solidFill>
                <a:latin typeface="Georgia"/>
              </a:rPr>
              <a:t>Reliability under judging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48FA0"/>
                </a:solidFill>
                <a:latin typeface="Calibri"/>
              </a:rPr>
              <a:t>3-tier fallback: bad wifi or a dead key degrades the tutor, never crashes the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4983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3EA5"/>
                </a:solidFill>
                <a:latin typeface="Consolas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F2F7"/>
                </a:solidFill>
                <a:latin typeface="Georgia"/>
              </a:rPr>
              <a:t>Genuine UX craft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48FA0"/>
                </a:solidFill>
                <a:latin typeface="Calibri"/>
              </a:rPr>
              <a:t>Gamified scoring, progress rail, mentor panel, notes - none blocking the core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59952" y="4983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3EA5"/>
                </a:solidFill>
                <a:latin typeface="Consolas"/>
              </a:rPr>
              <a:t>04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F2F7"/>
                </a:solidFill>
                <a:latin typeface="Georgia"/>
              </a:rPr>
              <a:t>Works on their data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48FA0"/>
                </a:solidFill>
                <a:latin typeface="Calibri"/>
              </a:rPr>
              <a:t>Upload any CSV - detection, cleaning, charts, modeling all run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3EA5"/>
                </a:solidFill>
                <a:latin typeface="Consolas"/>
              </a:rPr>
              <a:t>09 — FOR THE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4F2F7"/>
                </a:solidFill>
                <a:latin typeface="Georgia"/>
              </a:rPr>
              <a:t>What to actually say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The hook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The agent cleans data and picks a model completely on its own - the learner predicts, never steers.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Every “why” on screen is a real measured number, not a canned explanation.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Wrong guesses cost points but never touch the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The differentiator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Two real agentic loops, same observe/decide/act/evaluate/adapt shape, reused on purpose.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A mentor that refuses to just answer - three modes tuned to how stuck the learner is.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The tutor layer can vanish entirely and the product still teaches, honestly.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Live demo order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Load the sample dataset → show the 10-step roadmap.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Guess a cleaning strategy wrong → reveal the agent's real backtrack.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Open the AI Mentor mid-lesson → switch modes → ask “give me a hint.”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Jump to Model Selection → escalation reasoning → Final Project recap.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319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41C"/>
          </a:solidFill>
          <a:ln w="12700">
            <a:solidFill>
              <a:srgbClr val="28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4F2F7"/>
                </a:solidFill>
                <a:latin typeface="Georgia"/>
              </a:rPr>
              <a:t>If asked “where's the AI”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Two places, on purpose: the deterministic core (decisions) and narration (explanation).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948FA0"/>
                </a:solidFill>
                <a:latin typeface="Calibri"/>
              </a:rPr>
              <a:t>• That separation is why a judge can trust the R² on screen - no LLM touched the math.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35D6E"/>
                </a:solidFill>
                <a:latin typeface="Consolas"/>
              </a:rPr>
              <a:t>vybe-learn · web/api.py + app/agent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